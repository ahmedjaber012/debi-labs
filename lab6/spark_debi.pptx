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76BB-43BA-4C9D-8C50-E37BB5EB671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0BCD3-62D8-4B3B-88BE-0D4D98711DA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838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76BB-43BA-4C9D-8C50-E37BB5EB671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0BCD3-62D8-4B3B-88BE-0D4D9871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140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76BB-43BA-4C9D-8C50-E37BB5EB671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0BCD3-62D8-4B3B-88BE-0D4D98711DA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058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76BB-43BA-4C9D-8C50-E37BB5EB671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0BCD3-62D8-4B3B-88BE-0D4D9871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92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76BB-43BA-4C9D-8C50-E37BB5EB671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0BCD3-62D8-4B3B-88BE-0D4D9871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04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76BB-43BA-4C9D-8C50-E37BB5EB671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0BCD3-62D8-4B3B-88BE-0D4D9871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984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76BB-43BA-4C9D-8C50-E37BB5EB671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0BCD3-62D8-4B3B-88BE-0D4D9871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03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FED76BB-43BA-4C9D-8C50-E37BB5EB671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820BCD3-62D8-4B3B-88BE-0D4D9871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68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76BB-43BA-4C9D-8C50-E37BB5EB671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0BCD3-62D8-4B3B-88BE-0D4D9871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31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76BB-43BA-4C9D-8C50-E37BB5EB671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0BCD3-62D8-4B3B-88BE-0D4D9871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91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D76BB-43BA-4C9D-8C50-E37BB5EB671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0BCD3-62D8-4B3B-88BE-0D4D98711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4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FED76BB-43BA-4C9D-8C50-E37BB5EB671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820BCD3-62D8-4B3B-88BE-0D4D98711DA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62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2F6B8-45D1-431C-B1CA-0F36EB63B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F5EEC-FEB1-4DE5-A646-4070B3398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US" sz="3600" b="1" dirty="0"/>
          </a:p>
          <a:p>
            <a:pPr algn="ctr"/>
            <a:endParaRPr lang="en-US" sz="3600" b="1" dirty="0"/>
          </a:p>
          <a:p>
            <a:pPr algn="ctr"/>
            <a:r>
              <a:rPr lang="en-US" sz="3600" b="1" dirty="0"/>
              <a:t>Spark</a:t>
            </a:r>
          </a:p>
        </p:txBody>
      </p:sp>
    </p:spTree>
    <p:extLst>
      <p:ext uri="{BB962C8B-B14F-4D97-AF65-F5344CB8AC3E}">
        <p14:creationId xmlns:p14="http://schemas.microsoft.com/office/powerpoint/2010/main" val="838617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F45CF911-B399-4781-AE1E-648CC9D6330D}"/>
              </a:ext>
            </a:extLst>
          </p:cNvPr>
          <p:cNvSpPr txBox="1">
            <a:spLocks/>
          </p:cNvSpPr>
          <p:nvPr/>
        </p:nvSpPr>
        <p:spPr>
          <a:xfrm>
            <a:off x="395536" y="267494"/>
            <a:ext cx="6577129" cy="648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What is Spark 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C0DA8B-57D9-498D-94F6-FD1BAF415F18}"/>
              </a:ext>
            </a:extLst>
          </p:cNvPr>
          <p:cNvSpPr txBox="1"/>
          <p:nvPr/>
        </p:nvSpPr>
        <p:spPr>
          <a:xfrm>
            <a:off x="518808" y="896183"/>
            <a:ext cx="794425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Fawry Pro Light" panose="02000500000000000000" pitchFamily="2" charset="-78"/>
                <a:cs typeface="Fawry Pro Light" panose="02000500000000000000" pitchFamily="2" charset="-78"/>
              </a:rPr>
              <a:t>Apache </a:t>
            </a:r>
            <a:r>
              <a:rPr lang="en-US" sz="2400" b="1" dirty="0">
                <a:latin typeface="Fawry Pro Light" panose="02000500000000000000" pitchFamily="2" charset="-78"/>
                <a:cs typeface="Fawry Pro Light" panose="02000500000000000000" pitchFamily="2" charset="-78"/>
              </a:rPr>
              <a:t>Spark</a:t>
            </a:r>
            <a:r>
              <a:rPr lang="en-US" sz="2400" dirty="0">
                <a:latin typeface="Fawry Pro Light" panose="02000500000000000000" pitchFamily="2" charset="-78"/>
                <a:cs typeface="Fawry Pro Light" panose="02000500000000000000" pitchFamily="2" charset="-78"/>
              </a:rPr>
              <a:t> is an </a:t>
            </a:r>
            <a:r>
              <a:rPr lang="en-US" sz="2400" b="1" dirty="0">
                <a:latin typeface="Fawry Pro Light" panose="02000500000000000000" pitchFamily="2" charset="-78"/>
                <a:cs typeface="Fawry Pro Light" panose="02000500000000000000" pitchFamily="2" charset="-78"/>
              </a:rPr>
              <a:t>open-source distributed computing system</a:t>
            </a:r>
            <a:r>
              <a:rPr lang="en-US" sz="2400" dirty="0">
                <a:latin typeface="Fawry Pro Light" panose="02000500000000000000" pitchFamily="2" charset="-78"/>
                <a:cs typeface="Fawry Pro Light" panose="02000500000000000000" pitchFamily="2" charset="-78"/>
              </a:rPr>
              <a:t> designed for fast and general-purpose processing of large-scale data. It's widely used for </a:t>
            </a:r>
            <a:r>
              <a:rPr lang="en-US" sz="2400" b="1" dirty="0">
                <a:latin typeface="Fawry Pro Light" panose="02000500000000000000" pitchFamily="2" charset="-78"/>
                <a:cs typeface="Fawry Pro Light" panose="02000500000000000000" pitchFamily="2" charset="-78"/>
              </a:rPr>
              <a:t>big data analytics</a:t>
            </a:r>
            <a:r>
              <a:rPr lang="en-US" sz="2400" dirty="0">
                <a:latin typeface="Fawry Pro Light" panose="02000500000000000000" pitchFamily="2" charset="-78"/>
                <a:cs typeface="Fawry Pro Light" panose="02000500000000000000" pitchFamily="2" charset="-78"/>
              </a:rPr>
              <a:t> and </a:t>
            </a:r>
            <a:r>
              <a:rPr lang="en-US" sz="2400" b="1" dirty="0">
                <a:latin typeface="Fawry Pro Light" panose="02000500000000000000" pitchFamily="2" charset="-78"/>
                <a:cs typeface="Fawry Pro Light" panose="02000500000000000000" pitchFamily="2" charset="-78"/>
              </a:rPr>
              <a:t>machine learning</a:t>
            </a:r>
            <a:r>
              <a:rPr lang="en-US" sz="2400" dirty="0">
                <a:latin typeface="Fawry Pro Light" panose="02000500000000000000" pitchFamily="2" charset="-78"/>
                <a:cs typeface="Fawry Pro Light" panose="02000500000000000000" pitchFamily="2" charset="-78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Fawry Pro Light" panose="02000500000000000000" pitchFamily="2" charset="-78"/>
                <a:cs typeface="Fawry Pro Light" panose="02000500000000000000" pitchFamily="2" charset="-78"/>
              </a:rPr>
              <a:t>Spark can process data </a:t>
            </a:r>
            <a:r>
              <a:rPr lang="en-US" sz="2400" b="1" dirty="0">
                <a:latin typeface="Fawry Pro Light" panose="02000500000000000000" pitchFamily="2" charset="-78"/>
                <a:cs typeface="Fawry Pro Light" panose="02000500000000000000" pitchFamily="2" charset="-78"/>
              </a:rPr>
              <a:t>up to 100x faster</a:t>
            </a:r>
            <a:r>
              <a:rPr lang="en-US" sz="2400" dirty="0">
                <a:latin typeface="Fawry Pro Light" panose="02000500000000000000" pitchFamily="2" charset="-78"/>
                <a:cs typeface="Fawry Pro Light" panose="02000500000000000000" pitchFamily="2" charset="-78"/>
              </a:rPr>
              <a:t> than traditional Hadoop MapReduce and Hive by using in-memory computing and efficient query execution.</a:t>
            </a:r>
          </a:p>
          <a:p>
            <a:endParaRPr lang="en-US" dirty="0">
              <a:latin typeface="Fawry Pro Light" panose="02000500000000000000" pitchFamily="2" charset="-78"/>
              <a:cs typeface="Fawry Pro Light" panose="02000500000000000000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2947FF-0CBD-4B46-BF67-842EC5ECDB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392" y="3635394"/>
            <a:ext cx="8219613" cy="232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105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77C2D-DF73-4923-9760-11B24ECEF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6B99"/>
                </a:solidFill>
              </a:rPr>
              <a:t>PySpark</a:t>
            </a:r>
            <a:r>
              <a:rPr lang="en-US" dirty="0">
                <a:solidFill>
                  <a:srgbClr val="006B99"/>
                </a:solidFill>
              </a:rPr>
              <a:t> Syntax &amp; execution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A5176-F639-4133-AFDF-6361A9D21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131734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033B3"/>
                </a:solidFill>
                <a:latin typeface="JetBrains Mono"/>
              </a:rPr>
              <a:t>from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pyspark.sql.functions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</a:t>
            </a:r>
            <a:r>
              <a:rPr lang="en-US" altLang="en-US" dirty="0">
                <a:solidFill>
                  <a:srgbClr val="0033B3"/>
                </a:solidFill>
                <a:latin typeface="JetBrains Mono"/>
              </a:rPr>
              <a:t>import 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*</a:t>
            </a:r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endParaRPr lang="en-US" altLang="en-US" dirty="0">
              <a:solidFill>
                <a:srgbClr val="080808"/>
              </a:solidFill>
              <a:latin typeface="JetBrains Mono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df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spark.sql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'''</a:t>
            </a:r>
            <a:br>
              <a:rPr lang="en-US" altLang="en-US" dirty="0">
                <a:solidFill>
                  <a:srgbClr val="067D17"/>
                </a:solidFill>
                <a:latin typeface="JetBrains Mono"/>
              </a:rPr>
            </a:b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SELECT *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FROM </a:t>
            </a:r>
            <a:r>
              <a:rPr lang="en-US" altLang="en-US" dirty="0" err="1">
                <a:solidFill>
                  <a:srgbClr val="067D17"/>
                </a:solidFill>
                <a:latin typeface="JetBrains Mono"/>
              </a:rPr>
              <a:t>test.PAYMENT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 p</a:t>
            </a:r>
            <a:br>
              <a:rPr lang="en-US" altLang="en-US" dirty="0">
                <a:solidFill>
                  <a:srgbClr val="067D17"/>
                </a:solidFill>
                <a:latin typeface="JetBrains Mono"/>
              </a:rPr>
            </a:b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JOIN </a:t>
            </a:r>
            <a:r>
              <a:rPr lang="en-US" altLang="en-US" dirty="0" err="1">
                <a:solidFill>
                  <a:srgbClr val="067D17"/>
                </a:solidFill>
                <a:latin typeface="JetBrains Mono"/>
              </a:rPr>
              <a:t>test.BILLS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 b ON p.ID = b.ID</a:t>
            </a:r>
            <a:br>
              <a:rPr lang="en-US" altLang="en-US" dirty="0">
                <a:solidFill>
                  <a:srgbClr val="067D17"/>
                </a:solidFill>
                <a:latin typeface="JetBrains Mono"/>
              </a:rPr>
            </a:b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WHERE </a:t>
            </a:r>
            <a:r>
              <a:rPr lang="en-US" altLang="en-US" dirty="0" err="1">
                <a:solidFill>
                  <a:srgbClr val="067D17"/>
                </a:solidFill>
                <a:latin typeface="JetBrains Mono"/>
              </a:rPr>
              <a:t>b.CODE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 = 112</a:t>
            </a:r>
            <a:br>
              <a:rPr lang="en-US" altLang="en-US" dirty="0">
                <a:solidFill>
                  <a:srgbClr val="067D17"/>
                </a:solidFill>
                <a:latin typeface="JetBrains Mono"/>
              </a:rPr>
            </a:b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AND CREATION_DAY = '2025-05-01’</a:t>
            </a:r>
            <a:br>
              <a:rPr lang="en-US" altLang="en-US" dirty="0">
                <a:solidFill>
                  <a:srgbClr val="067D17"/>
                </a:solidFill>
                <a:latin typeface="JetBrains Mono"/>
              </a:rPr>
            </a:b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'''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df.count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()</a:t>
            </a:r>
            <a:endParaRPr lang="en-US" altLang="en-US" sz="4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374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0FCD5-185E-45E2-A926-588283940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Pyspark</a:t>
            </a:r>
            <a:r>
              <a:rPr lang="en-US" dirty="0"/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Syntax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27C1A-948E-4AC3-AEE2-D8927687D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>
                <a:solidFill>
                  <a:srgbClr val="0033B3"/>
                </a:solidFill>
                <a:latin typeface="JetBrains Mono"/>
              </a:rPr>
              <a:t>from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pyspark.sql.functions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</a:t>
            </a:r>
            <a:r>
              <a:rPr lang="en-US" altLang="en-US" dirty="0">
                <a:solidFill>
                  <a:srgbClr val="0033B3"/>
                </a:solidFill>
                <a:latin typeface="JetBrains Mono"/>
              </a:rPr>
              <a:t>import 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*</a:t>
            </a:r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payment_df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spark.sql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'SELECT * FROM </a:t>
            </a:r>
            <a:r>
              <a:rPr lang="en-US" altLang="en-US" dirty="0" err="1">
                <a:solidFill>
                  <a:srgbClr val="067D17"/>
                </a:solidFill>
                <a:latin typeface="JetBrains Mono"/>
              </a:rPr>
              <a:t>test.PAYMENT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’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bills_df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spark.sql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'SELECT * FROM </a:t>
            </a:r>
            <a:r>
              <a:rPr lang="en-US" altLang="en-US" dirty="0" err="1">
                <a:solidFill>
                  <a:srgbClr val="067D17"/>
                </a:solidFill>
                <a:latin typeface="JetBrains Mono"/>
              </a:rPr>
              <a:t>test.BILLS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’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joined_df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payment_df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.join(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bills_df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, payment_df.id == bill_df.id, 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'inner’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first_filter_df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joined_df.where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(col(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 </a:t>
            </a:r>
            <a:r>
              <a:rPr lang="en-US" altLang="en-US" dirty="0" err="1">
                <a:solidFill>
                  <a:srgbClr val="067D17"/>
                </a:solidFill>
                <a:latin typeface="JetBrains Mono"/>
              </a:rPr>
              <a:t>BILLS.code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 == </a:t>
            </a:r>
            <a:r>
              <a:rPr lang="en-US" altLang="en-US" dirty="0">
                <a:solidFill>
                  <a:srgbClr val="1750EB"/>
                </a:solidFill>
                <a:latin typeface="JetBrains Mono"/>
              </a:rPr>
              <a:t>112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second_filter_df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first_filter_df.where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(col(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dirty="0" err="1">
                <a:solidFill>
                  <a:srgbClr val="067D17"/>
                </a:solidFill>
                <a:latin typeface="JetBrains Mono"/>
              </a:rPr>
              <a:t>creation_day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 == 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'2025-05-01’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second_filter_df.count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()</a:t>
            </a:r>
            <a:endParaRPr lang="en-US" altLang="en-US" sz="4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077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B9259-222C-4FE0-9D7B-C18AE9EF3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Transformation &amp; action Functions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</a:rPr>
            </a:b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5BBF238-B6B0-4208-A16D-5B2ED0D06B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888" y="1737360"/>
            <a:ext cx="6410482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046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FEE1D-F26B-4BF4-973A-402F1531D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Transformation &amp; action Functions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</a:rPr>
            </a:b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AE99919-F5CB-464B-848F-89392F430B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03" y="1686313"/>
            <a:ext cx="4998317" cy="4022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D65AB0-E27F-4BBB-A266-0F13AD64D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682" y="1926454"/>
            <a:ext cx="4000868" cy="355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960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392B8-2E0D-4E38-956B-DC38F5508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Narrow VS wide Transformations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</a:rPr>
            </a:b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196030E-FA9A-4B40-A701-06314421FD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053" y="1846263"/>
            <a:ext cx="6296219" cy="40227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CD94B82-2A15-4F3E-9944-C1EE444A6FA0}"/>
              </a:ext>
            </a:extLst>
          </p:cNvPr>
          <p:cNvSpPr/>
          <p:nvPr/>
        </p:nvSpPr>
        <p:spPr>
          <a:xfrm>
            <a:off x="963705" y="2978004"/>
            <a:ext cx="11884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Partition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369079-DDD7-4254-8C2F-9E19CCD5CE20}"/>
              </a:ext>
            </a:extLst>
          </p:cNvPr>
          <p:cNvSpPr txBox="1"/>
          <p:nvPr/>
        </p:nvSpPr>
        <p:spPr>
          <a:xfrm>
            <a:off x="963705" y="4015798"/>
            <a:ext cx="1156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Partition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2623A6-3396-44EC-90EB-7E99C63CD171}"/>
              </a:ext>
            </a:extLst>
          </p:cNvPr>
          <p:cNvSpPr/>
          <p:nvPr/>
        </p:nvSpPr>
        <p:spPr>
          <a:xfrm>
            <a:off x="963705" y="4935975"/>
            <a:ext cx="11884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Partition 3</a:t>
            </a:r>
          </a:p>
        </p:txBody>
      </p:sp>
    </p:spTree>
    <p:extLst>
      <p:ext uri="{BB962C8B-B14F-4D97-AF65-F5344CB8AC3E}">
        <p14:creationId xmlns:p14="http://schemas.microsoft.com/office/powerpoint/2010/main" val="136766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7F6F3-6950-427B-9D8A-A2FD0B801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Narrow VS wide Transformations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</a:rPr>
            </a:b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1D1853B-A1A0-414A-81F9-FEBEEE45D0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616" y="1810753"/>
            <a:ext cx="7756252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144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EA802-5A9D-4A40-9EED-3C0A4DD10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Narrow VS wide Transformations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</a:rPr>
            </a:b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4174834-F2B3-4CC1-8DE5-412B3D7A74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241" y="1846263"/>
            <a:ext cx="9241653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53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481CE-66AD-4116-9A92-B8024B315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Understand Execution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</a:rPr>
            </a:b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4EDBB-5779-4CD2-B0F1-85635A42D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en-US" dirty="0">
                <a:solidFill>
                  <a:srgbClr val="0033B3"/>
                </a:solidFill>
                <a:latin typeface="JetBrains Mono"/>
              </a:rPr>
              <a:t>from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pyspark.sql.functions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</a:t>
            </a:r>
            <a:r>
              <a:rPr lang="en-US" altLang="en-US" dirty="0">
                <a:solidFill>
                  <a:srgbClr val="0033B3"/>
                </a:solidFill>
                <a:latin typeface="JetBrains Mono"/>
              </a:rPr>
              <a:t>import 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*</a:t>
            </a:r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payment_df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spark.sql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'SELECT * FROM </a:t>
            </a:r>
            <a:r>
              <a:rPr lang="en-US" altLang="en-US" dirty="0" err="1">
                <a:solidFill>
                  <a:srgbClr val="067D17"/>
                </a:solidFill>
                <a:latin typeface="JetBrains Mono"/>
              </a:rPr>
              <a:t>test.PAYMENT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’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bills_df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spark.sql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'SELECT * FROM </a:t>
            </a:r>
            <a:r>
              <a:rPr lang="en-US" altLang="en-US" dirty="0" err="1">
                <a:solidFill>
                  <a:srgbClr val="067D17"/>
                </a:solidFill>
                <a:latin typeface="JetBrains Mono"/>
              </a:rPr>
              <a:t>test.BILLS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’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joined_df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payment_df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.join(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bills_df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, payment_df.id == bill_df.id, 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'inner’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first_filter_df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joined_df.where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(col(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 </a:t>
            </a:r>
            <a:r>
              <a:rPr lang="en-US" altLang="en-US" dirty="0" err="1">
                <a:solidFill>
                  <a:srgbClr val="067D17"/>
                </a:solidFill>
                <a:latin typeface="JetBrains Mono"/>
              </a:rPr>
              <a:t>BILLS.code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 == </a:t>
            </a:r>
            <a:r>
              <a:rPr lang="en-US" altLang="en-US" dirty="0">
                <a:solidFill>
                  <a:srgbClr val="1750EB"/>
                </a:solidFill>
                <a:latin typeface="JetBrains Mono"/>
              </a:rPr>
              <a:t>112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second_filter_df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first_filter_df.where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(col(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dirty="0" err="1">
                <a:solidFill>
                  <a:srgbClr val="067D17"/>
                </a:solidFill>
                <a:latin typeface="JetBrains Mono"/>
              </a:rPr>
              <a:t>creation_day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 == 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'2025-05-01’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second_filter_df.count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()</a:t>
            </a:r>
            <a:endParaRPr lang="en-US" altLang="en-US" sz="4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b="1" dirty="0">
                <a:solidFill>
                  <a:srgbClr val="FF0000"/>
                </a:solidFill>
              </a:rPr>
              <a:t>Highlight Action Functions, Wide transformation and narrow transformation functions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538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91D05-17EA-430F-95EB-EB66B56E0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Understand Execution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</a:rPr>
            </a:b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8E26A-ACEA-4659-9AC3-CCB2D712C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>
                <a:solidFill>
                  <a:srgbClr val="0033B3"/>
                </a:solidFill>
                <a:latin typeface="JetBrains Mono"/>
              </a:rPr>
              <a:t>from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pyspark.sql.functions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</a:t>
            </a:r>
            <a:r>
              <a:rPr lang="en-US" altLang="en-US" dirty="0">
                <a:solidFill>
                  <a:srgbClr val="0033B3"/>
                </a:solidFill>
                <a:latin typeface="JetBrains Mono"/>
              </a:rPr>
              <a:t>import 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*</a:t>
            </a:r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payment_df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spark.sql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'SELECT * FROM </a:t>
            </a:r>
            <a:r>
              <a:rPr lang="en-US" altLang="en-US" dirty="0" err="1">
                <a:solidFill>
                  <a:srgbClr val="067D17"/>
                </a:solidFill>
                <a:latin typeface="JetBrains Mono"/>
              </a:rPr>
              <a:t>test.PAYMENT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’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bills_df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spark.sql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'SELECT * FROM </a:t>
            </a:r>
            <a:r>
              <a:rPr lang="en-US" altLang="en-US" dirty="0" err="1">
                <a:solidFill>
                  <a:srgbClr val="067D17"/>
                </a:solidFill>
                <a:latin typeface="JetBrains Mono"/>
              </a:rPr>
              <a:t>test.BILLS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’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joined_df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payment_df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.join(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bills_df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, payment_df.id == bill_df.id, 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'inner’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first_filter_df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joined_df.where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(col(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 </a:t>
            </a:r>
            <a:r>
              <a:rPr lang="en-US" altLang="en-US" dirty="0" err="1">
                <a:solidFill>
                  <a:srgbClr val="067D17"/>
                </a:solidFill>
                <a:latin typeface="JetBrains Mono"/>
              </a:rPr>
              <a:t>BILLS.code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 == </a:t>
            </a:r>
            <a:r>
              <a:rPr lang="en-US" altLang="en-US" dirty="0">
                <a:solidFill>
                  <a:srgbClr val="1750EB"/>
                </a:solidFill>
                <a:latin typeface="JetBrains Mono"/>
              </a:rPr>
              <a:t>112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second_filter_df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first_filter_df.where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(col(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dirty="0" err="1">
                <a:solidFill>
                  <a:srgbClr val="067D17"/>
                </a:solidFill>
                <a:latin typeface="JetBrains Mono"/>
              </a:rPr>
              <a:t>creation_day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 == 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'2025-05-01’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second_filter_df.count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()</a:t>
            </a:r>
            <a:endParaRPr lang="en-US" altLang="en-US" sz="4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AB63B-75CC-4EBF-B490-57CDD4C83863}"/>
              </a:ext>
            </a:extLst>
          </p:cNvPr>
          <p:cNvSpPr txBox="1"/>
          <p:nvPr/>
        </p:nvSpPr>
        <p:spPr>
          <a:xfrm>
            <a:off x="6935837" y="2281561"/>
            <a:ext cx="1711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highlight>
                  <a:srgbClr val="FF00FF"/>
                </a:highlight>
              </a:rPr>
              <a:t>Initial Load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2F1BC-5C1A-4004-9636-21BD5CDB994D}"/>
              </a:ext>
            </a:extLst>
          </p:cNvPr>
          <p:cNvSpPr txBox="1"/>
          <p:nvPr/>
        </p:nvSpPr>
        <p:spPr>
          <a:xfrm>
            <a:off x="6289247" y="2915572"/>
            <a:ext cx="1711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highlight>
                  <a:srgbClr val="FF00FF"/>
                </a:highlight>
              </a:rPr>
              <a:t>Initial Load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D07B30-E198-4033-9E0C-2CA53D211410}"/>
              </a:ext>
            </a:extLst>
          </p:cNvPr>
          <p:cNvSpPr txBox="1"/>
          <p:nvPr/>
        </p:nvSpPr>
        <p:spPr>
          <a:xfrm>
            <a:off x="8646850" y="3543999"/>
            <a:ext cx="1614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highlight>
                  <a:srgbClr val="00FFFF"/>
                </a:highlight>
              </a:rPr>
              <a:t>Wide Transformation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2B3ACC-12EC-41EB-AF67-0B89A931B860}"/>
              </a:ext>
            </a:extLst>
          </p:cNvPr>
          <p:cNvSpPr txBox="1"/>
          <p:nvPr/>
        </p:nvSpPr>
        <p:spPr>
          <a:xfrm>
            <a:off x="7032059" y="4300000"/>
            <a:ext cx="16147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highlight>
                  <a:srgbClr val="FFFF00"/>
                </a:highlight>
              </a:rPr>
              <a:t>Narrow Transformation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2FD89E-5418-4638-8EAB-A260B5C20DE8}"/>
              </a:ext>
            </a:extLst>
          </p:cNvPr>
          <p:cNvSpPr txBox="1"/>
          <p:nvPr/>
        </p:nvSpPr>
        <p:spPr>
          <a:xfrm>
            <a:off x="8711418" y="4896284"/>
            <a:ext cx="16147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>
                <a:highlight>
                  <a:srgbClr val="FFFF00"/>
                </a:highlight>
              </a:rPr>
              <a:t>Narrow Transformation</a:t>
            </a:r>
            <a:endParaRPr lang="en-US" sz="1100" b="1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940540-DFA9-47BB-802C-85F16C34083D}"/>
              </a:ext>
            </a:extLst>
          </p:cNvPr>
          <p:cNvSpPr txBox="1"/>
          <p:nvPr/>
        </p:nvSpPr>
        <p:spPr>
          <a:xfrm>
            <a:off x="3725280" y="5552158"/>
            <a:ext cx="1614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highlight>
                  <a:srgbClr val="00FF00"/>
                </a:highlight>
              </a:rPr>
              <a:t>Action</a:t>
            </a:r>
          </a:p>
        </p:txBody>
      </p:sp>
    </p:spTree>
    <p:extLst>
      <p:ext uri="{BB962C8B-B14F-4D97-AF65-F5344CB8AC3E}">
        <p14:creationId xmlns:p14="http://schemas.microsoft.com/office/powerpoint/2010/main" val="4034565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DE900-E673-4209-8202-B973F2CF9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Internals of spark Application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</a:rPr>
            </a:b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C7FDEDC-E247-4E21-A347-5AEEC26C5E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629" y="1873967"/>
            <a:ext cx="8212771" cy="40227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05EDFBD-5090-4085-8E2F-6D02FB934018}"/>
              </a:ext>
            </a:extLst>
          </p:cNvPr>
          <p:cNvSpPr/>
          <p:nvPr/>
        </p:nvSpPr>
        <p:spPr>
          <a:xfrm>
            <a:off x="2405781" y="4753538"/>
            <a:ext cx="14385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Partitions No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9CB5E0-53B6-4AEC-9B4C-2C9B94D2237D}"/>
              </a:ext>
            </a:extLst>
          </p:cNvPr>
          <p:cNvSpPr/>
          <p:nvPr/>
        </p:nvSpPr>
        <p:spPr>
          <a:xfrm>
            <a:off x="5878474" y="4753538"/>
            <a:ext cx="14385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Partitions No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86326B-C474-4C73-83C8-8CB3EA8FBB15}"/>
              </a:ext>
            </a:extLst>
          </p:cNvPr>
          <p:cNvSpPr/>
          <p:nvPr/>
        </p:nvSpPr>
        <p:spPr>
          <a:xfrm>
            <a:off x="4142127" y="4753538"/>
            <a:ext cx="14385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Partitions No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4BE9A4-86D4-404C-A4EB-DE29C19870C8}"/>
              </a:ext>
            </a:extLst>
          </p:cNvPr>
          <p:cNvSpPr/>
          <p:nvPr/>
        </p:nvSpPr>
        <p:spPr>
          <a:xfrm>
            <a:off x="3549741" y="323899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Wide </a:t>
            </a:r>
          </a:p>
          <a:p>
            <a:r>
              <a:rPr lang="en-US" b="1" dirty="0">
                <a:solidFill>
                  <a:srgbClr val="FF0000"/>
                </a:solidFill>
              </a:rPr>
              <a:t>Trans.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760750-0B9F-4F23-8E51-55A556909041}"/>
              </a:ext>
            </a:extLst>
          </p:cNvPr>
          <p:cNvSpPr/>
          <p:nvPr/>
        </p:nvSpPr>
        <p:spPr>
          <a:xfrm>
            <a:off x="5131446" y="284658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Wide </a:t>
            </a:r>
          </a:p>
          <a:p>
            <a:r>
              <a:rPr lang="en-US" b="1" dirty="0">
                <a:solidFill>
                  <a:srgbClr val="FF0000"/>
                </a:solidFill>
              </a:rPr>
              <a:t>Trans.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39292B-B79F-4177-9947-43541C85A1E7}"/>
              </a:ext>
            </a:extLst>
          </p:cNvPr>
          <p:cNvSpPr/>
          <p:nvPr/>
        </p:nvSpPr>
        <p:spPr>
          <a:xfrm>
            <a:off x="3432112" y="2525313"/>
            <a:ext cx="19720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=&gt; Action Function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755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FDC7F-66E9-4E23-907C-61C83E7D4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Internals of spark Job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</a:rPr>
            </a:b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BD84E-04A5-490D-9A3D-DCA14437B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en-US" dirty="0">
                <a:solidFill>
                  <a:srgbClr val="0033B3"/>
                </a:solidFill>
                <a:latin typeface="JetBrains Mono"/>
              </a:rPr>
              <a:t>from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pyspark.sql.functions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</a:t>
            </a:r>
            <a:r>
              <a:rPr lang="en-US" altLang="en-US" dirty="0">
                <a:solidFill>
                  <a:srgbClr val="0033B3"/>
                </a:solidFill>
                <a:latin typeface="JetBrains Mono"/>
              </a:rPr>
              <a:t>import 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*</a:t>
            </a:r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payment_df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spark.sql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'SELECT * FROM </a:t>
            </a:r>
            <a:r>
              <a:rPr lang="en-US" altLang="en-US" dirty="0" err="1">
                <a:solidFill>
                  <a:srgbClr val="067D17"/>
                </a:solidFill>
                <a:latin typeface="JetBrains Mono"/>
              </a:rPr>
              <a:t>test.PAYMENT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’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bills_df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spark.sql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'SELECT * FROM </a:t>
            </a:r>
            <a:r>
              <a:rPr lang="en-US" altLang="en-US" dirty="0" err="1">
                <a:solidFill>
                  <a:srgbClr val="067D17"/>
                </a:solidFill>
                <a:latin typeface="JetBrains Mono"/>
              </a:rPr>
              <a:t>test.BILLS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’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joined_df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payment_df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.join(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bills_df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, payment_df.id == bill_df.id, 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'inner’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first_filter_df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joined_df.where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(col(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 </a:t>
            </a:r>
            <a:r>
              <a:rPr lang="en-US" altLang="en-US" dirty="0" err="1">
                <a:solidFill>
                  <a:srgbClr val="067D17"/>
                </a:solidFill>
                <a:latin typeface="JetBrains Mono"/>
              </a:rPr>
              <a:t>BILLS.code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 == </a:t>
            </a:r>
            <a:r>
              <a:rPr lang="en-US" altLang="en-US" dirty="0">
                <a:solidFill>
                  <a:srgbClr val="1750EB"/>
                </a:solidFill>
                <a:latin typeface="JetBrains Mono"/>
              </a:rPr>
              <a:t>112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second_filter_df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first_filter_df.where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(col(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dirty="0" err="1">
                <a:solidFill>
                  <a:srgbClr val="067D17"/>
                </a:solidFill>
                <a:latin typeface="JetBrains Mono"/>
              </a:rPr>
              <a:t>creation_day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 == 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'2025-05-01’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second_filter_df.count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()</a:t>
            </a:r>
            <a:endParaRPr lang="en-US" altLang="en-US" sz="4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3000" b="1" dirty="0">
                <a:solidFill>
                  <a:srgbClr val="FF0000"/>
                </a:solidFill>
              </a:rPr>
              <a:t>How many jobs, stages and tasks in this part of code 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706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ED5AF-7D52-4BFF-BE37-D654FB18B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71176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Internals of spark Job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</a:rPr>
            </a:b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1AFB4-90F8-4F2F-81A9-0810E5337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>
                <a:solidFill>
                  <a:srgbClr val="0033B3"/>
                </a:solidFill>
                <a:latin typeface="JetBrains Mono"/>
              </a:rPr>
              <a:t>from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pyspark.sql.functions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</a:t>
            </a:r>
            <a:r>
              <a:rPr lang="en-US" altLang="en-US" dirty="0">
                <a:solidFill>
                  <a:srgbClr val="0033B3"/>
                </a:solidFill>
                <a:latin typeface="JetBrains Mono"/>
              </a:rPr>
              <a:t>import 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*</a:t>
            </a:r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payment_df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spark.sql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'SELECT * FROM </a:t>
            </a:r>
            <a:r>
              <a:rPr lang="en-US" altLang="en-US" dirty="0" err="1">
                <a:solidFill>
                  <a:srgbClr val="067D17"/>
                </a:solidFill>
                <a:latin typeface="JetBrains Mono"/>
              </a:rPr>
              <a:t>test.PAYMENT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’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bills_df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spark.sql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'SELECT * FROM </a:t>
            </a:r>
            <a:r>
              <a:rPr lang="en-US" altLang="en-US" dirty="0" err="1">
                <a:solidFill>
                  <a:srgbClr val="067D17"/>
                </a:solidFill>
                <a:latin typeface="JetBrains Mono"/>
              </a:rPr>
              <a:t>test.BILLS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’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joined_df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payment_df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.join(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bills_df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, payment_df.id == bill_df.id, 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'inner’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first_filter_df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joined_df.where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(col(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 </a:t>
            </a:r>
            <a:r>
              <a:rPr lang="en-US" altLang="en-US" dirty="0" err="1">
                <a:solidFill>
                  <a:srgbClr val="067D17"/>
                </a:solidFill>
                <a:latin typeface="JetBrains Mono"/>
              </a:rPr>
              <a:t>BILLS.code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 == </a:t>
            </a:r>
            <a:r>
              <a:rPr lang="en-US" altLang="en-US" dirty="0">
                <a:solidFill>
                  <a:srgbClr val="1750EB"/>
                </a:solidFill>
                <a:latin typeface="JetBrains Mono"/>
              </a:rPr>
              <a:t>112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second_filter_df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first_filter_df.where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(col(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dirty="0" err="1">
                <a:solidFill>
                  <a:srgbClr val="067D17"/>
                </a:solidFill>
                <a:latin typeface="JetBrains Mono"/>
              </a:rPr>
              <a:t>creation_day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 == </a:t>
            </a:r>
            <a:r>
              <a:rPr lang="en-US" altLang="en-US" dirty="0">
                <a:solidFill>
                  <a:srgbClr val="067D17"/>
                </a:solidFill>
                <a:latin typeface="JetBrains Mono"/>
              </a:rPr>
              <a:t>'2025-05-01’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)</a:t>
            </a:r>
          </a:p>
          <a:p>
            <a:br>
              <a:rPr lang="en-US" altLang="en-US" dirty="0">
                <a:solidFill>
                  <a:srgbClr val="080808"/>
                </a:solidFill>
                <a:latin typeface="JetBrains Mono"/>
              </a:rPr>
            </a:br>
            <a:r>
              <a:rPr lang="en-US" altLang="en-US" dirty="0" err="1">
                <a:solidFill>
                  <a:srgbClr val="080808"/>
                </a:solidFill>
                <a:latin typeface="JetBrains Mono"/>
              </a:rPr>
              <a:t>second_filter_df.count</a:t>
            </a:r>
            <a:r>
              <a:rPr lang="en-US" altLang="en-US" dirty="0">
                <a:solidFill>
                  <a:srgbClr val="080808"/>
                </a:solidFill>
                <a:latin typeface="JetBrains Mono"/>
              </a:rPr>
              <a:t>()</a:t>
            </a:r>
            <a:endParaRPr lang="en-US" altLang="en-US" sz="4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470EDC-54AC-4E72-9F68-2F5B1E68E6BA}"/>
              </a:ext>
            </a:extLst>
          </p:cNvPr>
          <p:cNvSpPr txBox="1"/>
          <p:nvPr/>
        </p:nvSpPr>
        <p:spPr>
          <a:xfrm>
            <a:off x="6982888" y="198648"/>
            <a:ext cx="1614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00FF00"/>
                </a:highlight>
              </a:rPr>
              <a:t>One Job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17C10E-6278-47EA-846B-17DEDB8B5835}"/>
              </a:ext>
            </a:extLst>
          </p:cNvPr>
          <p:cNvSpPr txBox="1"/>
          <p:nvPr/>
        </p:nvSpPr>
        <p:spPr>
          <a:xfrm>
            <a:off x="6982888" y="727296"/>
            <a:ext cx="1829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0000"/>
                </a:highlight>
              </a:rPr>
              <a:t>10 Tasks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8D0CF4-B75E-46FD-9807-C5246870D792}"/>
              </a:ext>
            </a:extLst>
          </p:cNvPr>
          <p:cNvSpPr txBox="1"/>
          <p:nvPr/>
        </p:nvSpPr>
        <p:spPr>
          <a:xfrm>
            <a:off x="8607213" y="421709"/>
            <a:ext cx="2548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Two Stages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18CD93-9C2B-42BC-8906-0DFA8F53D0E4}"/>
              </a:ext>
            </a:extLst>
          </p:cNvPr>
          <p:cNvSpPr txBox="1"/>
          <p:nvPr/>
        </p:nvSpPr>
        <p:spPr>
          <a:xfrm>
            <a:off x="6874434" y="2320823"/>
            <a:ext cx="16147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highlight>
                  <a:srgbClr val="FF00FF"/>
                </a:highlight>
              </a:rPr>
              <a:t>Initial Load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00BE5B-BF87-49E9-B3A3-D3A2D8B442F0}"/>
              </a:ext>
            </a:extLst>
          </p:cNvPr>
          <p:cNvSpPr txBox="1"/>
          <p:nvPr/>
        </p:nvSpPr>
        <p:spPr>
          <a:xfrm>
            <a:off x="5885864" y="2919022"/>
            <a:ext cx="16147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highlight>
                  <a:srgbClr val="FF00FF"/>
                </a:highlight>
              </a:rPr>
              <a:t>Initial Load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BEFBE9-8C7B-4106-9A66-0CA8F4D734CB}"/>
              </a:ext>
            </a:extLst>
          </p:cNvPr>
          <p:cNvSpPr txBox="1"/>
          <p:nvPr/>
        </p:nvSpPr>
        <p:spPr>
          <a:xfrm>
            <a:off x="8575797" y="3611193"/>
            <a:ext cx="16147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highlight>
                  <a:srgbClr val="00FFFF"/>
                </a:highlight>
              </a:rPr>
              <a:t>Wide Transformation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B3A21F-E923-486E-AC28-DB18A22EE601}"/>
              </a:ext>
            </a:extLst>
          </p:cNvPr>
          <p:cNvSpPr txBox="1"/>
          <p:nvPr/>
        </p:nvSpPr>
        <p:spPr>
          <a:xfrm>
            <a:off x="7090130" y="4270947"/>
            <a:ext cx="16147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highlight>
                  <a:srgbClr val="FFFF00"/>
                </a:highlight>
              </a:rPr>
              <a:t>Narrow Transformation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6DABC7-C6F8-43DF-B66B-0E7773B9FB91}"/>
              </a:ext>
            </a:extLst>
          </p:cNvPr>
          <p:cNvSpPr txBox="1"/>
          <p:nvPr/>
        </p:nvSpPr>
        <p:spPr>
          <a:xfrm>
            <a:off x="8607213" y="4914343"/>
            <a:ext cx="16147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highlight>
                  <a:srgbClr val="FFFF00"/>
                </a:highlight>
              </a:rPr>
              <a:t>Narrow Transformation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069912-6357-47A2-9A7F-45152E08111A}"/>
              </a:ext>
            </a:extLst>
          </p:cNvPr>
          <p:cNvSpPr txBox="1"/>
          <p:nvPr/>
        </p:nvSpPr>
        <p:spPr>
          <a:xfrm>
            <a:off x="3627181" y="5557374"/>
            <a:ext cx="1592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highlight>
                  <a:srgbClr val="00FF00"/>
                </a:highlight>
              </a:rPr>
              <a:t>Action</a:t>
            </a:r>
          </a:p>
        </p:txBody>
      </p:sp>
    </p:spTree>
    <p:extLst>
      <p:ext uri="{BB962C8B-B14F-4D97-AF65-F5344CB8AC3E}">
        <p14:creationId xmlns:p14="http://schemas.microsoft.com/office/powerpoint/2010/main" val="3197985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35FFD-7C37-43D3-9555-FFBAF2F78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How to determine partitions Number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</a:rPr>
            </a:b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78669-B9CF-444C-B9E5-67D346CDB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Fawry Pro Light" panose="02000500000000000000" pitchFamily="2" charset="-78"/>
                <a:cs typeface="Fawry Pro Light" panose="02000500000000000000" pitchFamily="2" charset="-78"/>
              </a:rPr>
              <a:t>Data Size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Fawry Pro Light" panose="02000500000000000000" pitchFamily="2" charset="-78"/>
                <a:cs typeface="Fawry Pro Light" panose="02000500000000000000" pitchFamily="2" charset="-78"/>
              </a:rPr>
              <a:t>The larger the data, the more partitions you should use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Fawry Pro Light" panose="02000500000000000000" pitchFamily="2" charset="-78"/>
                <a:cs typeface="Fawry Pro Light" panose="02000500000000000000" pitchFamily="2" charset="-78"/>
              </a:rPr>
              <a:t>The best partition size is between 100 to 200 MB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Fawry Pro Light" panose="02000500000000000000" pitchFamily="2" charset="-78"/>
                <a:cs typeface="Fawry Pro Light" panose="02000500000000000000" pitchFamily="2" charset="-78"/>
              </a:rPr>
              <a:t>Example, If your data = 10 GB, partition size = 100 MB, </a:t>
            </a:r>
          </a:p>
          <a:p>
            <a:pPr lvl="1">
              <a:spcAft>
                <a:spcPts val="600"/>
              </a:spcAft>
            </a:pPr>
            <a:r>
              <a:rPr lang="en-US" dirty="0">
                <a:latin typeface="Fawry Pro Light" panose="02000500000000000000" pitchFamily="2" charset="-78"/>
                <a:cs typeface="Fawry Pro Light" panose="02000500000000000000" pitchFamily="2" charset="-78"/>
              </a:rPr>
              <a:t>then partitions count = (10 * 1000) / 100 = 100 partition</a:t>
            </a:r>
          </a:p>
          <a:p>
            <a:endParaRPr lang="en-US" dirty="0">
              <a:latin typeface="Fawry Pro Light" panose="02000500000000000000" pitchFamily="2" charset="-78"/>
              <a:cs typeface="Fawry Pro Light" panose="02000500000000000000" pitchFamily="2" charset="-78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985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8DA98-6D08-4132-916A-2EF46C718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Spark Components</a:t>
            </a:r>
            <a:br>
              <a:rPr lang="en-US" b="1" dirty="0">
                <a:solidFill>
                  <a:schemeClr val="bg2">
                    <a:lumMod val="50000"/>
                  </a:schemeClr>
                </a:solidFill>
              </a:rPr>
            </a:b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B6382-1111-40D6-855A-A24CD1FA7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8DBF1217-B91B-4BFE-A04F-345D6C5AD397}"/>
              </a:ext>
            </a:extLst>
          </p:cNvPr>
          <p:cNvSpPr txBox="1">
            <a:spLocks/>
          </p:cNvSpPr>
          <p:nvPr/>
        </p:nvSpPr>
        <p:spPr>
          <a:xfrm>
            <a:off x="395536" y="267494"/>
            <a:ext cx="6577129" cy="648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Spark Components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718231-172E-4836-BE85-ED9A98D105F8}"/>
              </a:ext>
            </a:extLst>
          </p:cNvPr>
          <p:cNvSpPr txBox="1"/>
          <p:nvPr/>
        </p:nvSpPr>
        <p:spPr>
          <a:xfrm>
            <a:off x="6711789" y="2636481"/>
            <a:ext cx="4518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Spark-submit test.py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6BF0D0-A463-4933-869D-7399EA1ED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599" y="2095849"/>
            <a:ext cx="5111100" cy="352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5297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43</TotalTime>
  <Words>934</Words>
  <Application>Microsoft Office PowerPoint</Application>
  <PresentationFormat>Widescreen</PresentationFormat>
  <Paragraphs>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Fawry Pro Light</vt:lpstr>
      <vt:lpstr>JetBrains Mono</vt:lpstr>
      <vt:lpstr>Retrospect</vt:lpstr>
      <vt:lpstr>PowerPoint Presentation</vt:lpstr>
      <vt:lpstr>PowerPoint Presentation</vt:lpstr>
      <vt:lpstr>PySpark Syntax &amp; execution </vt:lpstr>
      <vt:lpstr>Pyspark Syntax </vt:lpstr>
      <vt:lpstr>Transformation &amp; action Functions </vt:lpstr>
      <vt:lpstr>Transformation &amp; action Functions </vt:lpstr>
      <vt:lpstr>Narrow VS wide Transformations </vt:lpstr>
      <vt:lpstr>Narrow VS wide Transformations </vt:lpstr>
      <vt:lpstr>Narrow VS wide Transformations </vt:lpstr>
      <vt:lpstr>Understand Execution </vt:lpstr>
      <vt:lpstr>Understand Execution </vt:lpstr>
      <vt:lpstr>Internals of spark Application </vt:lpstr>
      <vt:lpstr>Internals of spark Job </vt:lpstr>
      <vt:lpstr>Internals of spark Job </vt:lpstr>
      <vt:lpstr>How to determine partitions Number </vt:lpstr>
      <vt:lpstr>Spark Components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Sayed</dc:creator>
  <cp:lastModifiedBy>Ahmed Sayed</cp:lastModifiedBy>
  <cp:revision>6</cp:revision>
  <dcterms:created xsi:type="dcterms:W3CDTF">2026-01-16T21:34:15Z</dcterms:created>
  <dcterms:modified xsi:type="dcterms:W3CDTF">2026-01-16T22:17:29Z</dcterms:modified>
</cp:coreProperties>
</file>